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B2A44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24354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4864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C9973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486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USO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9601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de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Visibilidade em IA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41605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AA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acompanhar, marca por marca, a presença da The Foursales Company nas respostas de ChatGPT, Gemini, Claude e Perplexity — aba por aba, funcionalidade por funcionalidade.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5532120"/>
            <a:ext cx="2194560" cy="0"/>
          </a:xfrm>
          <a:prstGeom prst="line">
            <a:avLst/>
          </a:prstGeom>
          <a:noFill/>
          <a:ln w="25400">
            <a:solidFill>
              <a:srgbClr val="C997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5669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Foursales  ·  EasyHire  ·  SalesJobs  ·  WorkPass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para o cliente  ·  Setembro de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C997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dashboard e como ele está organizado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212080" cy="4343400"/>
          </a:xfrm>
          <a:prstGeom prst="roundRect">
            <a:avLst>
              <a:gd name="adj" fmla="val 2105"/>
            </a:avLst>
          </a:prstGeom>
          <a:solidFill>
            <a:srgbClr val="111C2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08483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9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GEO?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7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Hoje, cada vez mais gente pergunta diretamente para uma IA — em vez de pesquisar no Google — qual é a melhor empresa de recrutamento, RPO ou headhunting.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310128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7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dashboard automatiza esse teste todos os dias: envia perguntas reais de clientes para ChatGPT, Gemini, Claude e Perplexity, e mede se — e como — a marca aparece na resposta.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4297680"/>
            <a:ext cx="4663440" cy="0"/>
          </a:xfrm>
          <a:prstGeom prst="line">
            <a:avLst/>
          </a:prstGeom>
          <a:noFill/>
          <a:ln w="12700">
            <a:solidFill>
              <a:srgbClr val="2C3E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48056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outras palavras: é o “Google Analytics” da visibilidade da marca dentro das respostas de inteligência artificial.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44068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AA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monitoradas: EasyHire, Foursales, SalesJobs e WorkPass (holding), comparadas a mais de 60 concorrentes do setor.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89320" y="1828800"/>
            <a:ext cx="5742432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2029968"/>
            <a:ext cx="384048" cy="384048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2029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93992" y="1984248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793992" y="2267712"/>
            <a:ext cx="4773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Visão-resumo: visibilidade, presença de fontes e ranking frente aos concorrentes.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89320" y="2743200"/>
            <a:ext cx="5742432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2944368"/>
            <a:ext cx="384048" cy="384048"/>
          </a:xfrm>
          <a:prstGeom prst="ellipse">
            <a:avLst/>
          </a:prstGeom>
          <a:solidFill>
            <a:srgbClr val="1E9E86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793992" y="2898648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93992" y="3182112"/>
            <a:ext cx="4773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perguntas que são enviadas às IAs todos os dias — em tabela e em mapa de calor.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989320" y="3657600"/>
            <a:ext cx="5742432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3858768"/>
            <a:ext cx="384048" cy="384048"/>
          </a:xfrm>
          <a:prstGeom prst="ellipse">
            <a:avLst/>
          </a:prstGeom>
          <a:solidFill>
            <a:srgbClr val="D6455F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93992" y="3813048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Concorrentes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93992" y="4096512"/>
            <a:ext cx="4773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da visibilidade ao longo do tempo e gestão de quem é monitorado.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989320" y="4572000"/>
            <a:ext cx="5742432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4773168"/>
            <a:ext cx="384048" cy="384048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29" name="Text 27"/>
          <p:cNvSpPr/>
          <p:nvPr/>
        </p:nvSpPr>
        <p:spPr>
          <a:xfrm>
            <a:off x="6263640" y="4773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93992" y="4727448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93992" y="5010912"/>
            <a:ext cx="4773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sites a IA cita como referência ao montar cada resposta.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989320" y="5486400"/>
            <a:ext cx="5742432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63640" y="5687568"/>
            <a:ext cx="384048" cy="384048"/>
          </a:xfrm>
          <a:prstGeom prst="ellipse">
            <a:avLst/>
          </a:prstGeom>
          <a:solidFill>
            <a:srgbClr val="1E9E86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5687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793992" y="5641848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93992" y="5925312"/>
            <a:ext cx="4773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texto bruto de cada resposta da IA, com as marcas citadas destacadas.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Foursales Company · Dashboard de Visibilidade em IA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515600" y="6528816"/>
            <a:ext cx="1216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C997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1 ·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geral: filtros e indicadores principais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34456" y="1819656"/>
            <a:ext cx="5870448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5875">
            <a:solidFill>
              <a:srgbClr val="E2E5EA"/>
            </a:solidFill>
            <a:prstDash val="solid"/>
          </a:ln>
        </p:spPr>
      </p:sp>
      <p:pic>
        <p:nvPicPr>
          <p:cNvPr id="6" name="Image 0" descr="/tmp/claude-0/-home-claude/52e76877-e6ca-54a8-bffe-89fc97b1191d/scratchpad/pptx_build/dashboard_t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874520"/>
            <a:ext cx="5760720" cy="1581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352958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Print: aba Dashboard, marca Foursales selecionada, últimos 7 dias.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384048" cy="384048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828800"/>
            <a:ext cx="4818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Seletor de marca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87552" y="2112264"/>
            <a:ext cx="4818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EasyHire, Foursales, SalesJobs ou WorkPass — troca todo o conteúdo da tela para a marca escolhida.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2743200"/>
            <a:ext cx="384048" cy="384048"/>
          </a:xfrm>
          <a:prstGeom prst="ellipse">
            <a:avLst/>
          </a:prstGeom>
          <a:solidFill>
            <a:srgbClr val="1E9E86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87552" y="2697480"/>
            <a:ext cx="4818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 período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87552" y="2980944"/>
            <a:ext cx="48188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por uma pergunta específica e por janela de tempo (7, 30 ou 90 dias). O botão ↻ atualiza os dados na hora.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3611880"/>
            <a:ext cx="384048" cy="384048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87552" y="3566160"/>
            <a:ext cx="4818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87552" y="3849624"/>
            <a:ext cx="48188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execuções em que a marca foi mencionada na resposta da IA (aqui: 11 de 32 respostas = 34%). A seta mostra a variação frente ao período anterior.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4709160"/>
            <a:ext cx="384048" cy="384048"/>
          </a:xfrm>
          <a:prstGeom prst="ellipse">
            <a:avLst/>
          </a:prstGeom>
          <a:solidFill>
            <a:srgbClr val="D6455F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709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87552" y="4663440"/>
            <a:ext cx="4818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de fontes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87552" y="4946904"/>
            <a:ext cx="48188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respostas em que a IA citou um domínio da própria marca (ex.: blog.foursales.com.br) como referência.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5989320" y="3977640"/>
            <a:ext cx="5760720" cy="2240280"/>
          </a:xfrm>
          <a:prstGeom prst="roundRect">
            <a:avLst>
              <a:gd name="adj" fmla="val 3265"/>
            </a:avLst>
          </a:prstGeom>
          <a:solidFill>
            <a:srgbClr val="111C2E"/>
          </a:solidFill>
          <a:ln/>
        </p:spPr>
      </p:sp>
      <p:sp>
        <p:nvSpPr>
          <p:cNvPr id="25" name="Text 22"/>
          <p:cNvSpPr/>
          <p:nvPr/>
        </p:nvSpPr>
        <p:spPr>
          <a:xfrm>
            <a:off x="6263640" y="4160520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263640" y="45262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7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 mostra se a marca é lembrada pela IA; presença de fontes mostra se a IA está enxergando e citando o conteúdo oficial da empresa. São duas métricas complementares — pode-se ser “lembrado” sem que a IA cite a fonte oficial, o que é um sinal de oportunidade de conteúdo.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Foursales Company · Dashboard de Visibilidade em IA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515600" y="6528816"/>
            <a:ext cx="1216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C997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1 · DASHBOARD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de marcas e detalhamento por modelo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02336" y="1819656"/>
            <a:ext cx="6830568" cy="1408176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5875">
            <a:solidFill>
              <a:srgbClr val="E2E5EA"/>
            </a:solidFill>
            <a:prstDash val="solid"/>
          </a:ln>
        </p:spPr>
      </p:sp>
      <p:pic>
        <p:nvPicPr>
          <p:cNvPr id="6" name="Image 0" descr="/tmp/claude-0/-home-claude/52e76877-e6ca-54a8-bffe-89fc97b1191d/scratchpad/pptx_build/dashboard_botto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74520"/>
            <a:ext cx="6720840" cy="12984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227832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Print: linha da Foursales destacada após clique na tabela de ranking.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3657600"/>
            <a:ext cx="672084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3886200"/>
            <a:ext cx="384048" cy="384048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61872" y="3840480"/>
            <a:ext cx="5687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 marcas — é clicável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261872" y="4123944"/>
            <a:ext cx="56875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traz posição, Share of Voice e Visibilidade. Clicar em uma marca (ex.: Foursales) a destaca em toda a tela — inclusive nos gráficos da aba Concorrentes.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31520" y="5074920"/>
            <a:ext cx="384048" cy="384048"/>
          </a:xfrm>
          <a:prstGeom prst="ellipse">
            <a:avLst/>
          </a:prstGeom>
          <a:solidFill>
            <a:srgbClr val="1E9E86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5074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61872" y="5029200"/>
            <a:ext cx="5687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da tabela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61872" y="5312664"/>
            <a:ext cx="56875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= colocação média nas respostas; Share of Voice = % de menções da marca frente ao total de menções de todas as marcas no período.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452360" y="1874520"/>
            <a:ext cx="4279392" cy="4389120"/>
          </a:xfrm>
          <a:prstGeom prst="roundRect">
            <a:avLst>
              <a:gd name="adj" fmla="val 1709"/>
            </a:avLst>
          </a:prstGeom>
          <a:solidFill>
            <a:srgbClr val="111C2E"/>
          </a:solidFill>
          <a:ln/>
        </p:spPr>
      </p:sp>
      <p:sp>
        <p:nvSpPr>
          <p:cNvPr id="18" name="Text 15"/>
          <p:cNvSpPr/>
          <p:nvPr/>
        </p:nvSpPr>
        <p:spPr>
          <a:xfrm>
            <a:off x="7726680" y="20848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Detalhamento — 4 recortes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726680" y="24505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7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tabela da direita no dashboard tem 4 abas internas que quebram a visibilidade por diferentes ângulos: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726680" y="3108960"/>
            <a:ext cx="91440" cy="91440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21" name="Text 18"/>
          <p:cNvSpPr/>
          <p:nvPr/>
        </p:nvSpPr>
        <p:spPr>
          <a:xfrm>
            <a:off x="7936992" y="30083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7936992" y="3246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Perplexity, Gemini, Claude — qual IA menciona mais a marca.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726680" y="3858768"/>
            <a:ext cx="91440" cy="91440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24" name="Text 21"/>
          <p:cNvSpPr/>
          <p:nvPr/>
        </p:nvSpPr>
        <p:spPr>
          <a:xfrm>
            <a:off x="7936992" y="37581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7936992" y="399592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 por país/cidade do prompt.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726680" y="4608576"/>
            <a:ext cx="91440" cy="91440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27" name="Text 24"/>
          <p:cNvSpPr/>
          <p:nvPr/>
        </p:nvSpPr>
        <p:spPr>
          <a:xfrm>
            <a:off x="7936992" y="45079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7936992" y="474573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 por perfil de quem pergunta (ex.: RH, gestor).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7726680" y="5358384"/>
            <a:ext cx="91440" cy="91440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30" name="Text 27"/>
          <p:cNvSpPr/>
          <p:nvPr/>
        </p:nvSpPr>
        <p:spPr>
          <a:xfrm>
            <a:off x="7936992" y="52578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7936992" y="549554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A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 por tipo de serviço (RPO, headhunting, vagas).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Foursales Company · Dashboard de Visibilidade em IA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515600" y="6528816"/>
            <a:ext cx="1216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C997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2 · PROMPTS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em tabela: cadastro e gestão das perguntas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385816" y="1819656"/>
            <a:ext cx="6419088" cy="2916936"/>
          </a:xfrm>
          <a:prstGeom prst="roundRect">
            <a:avLst>
              <a:gd name="adj" fmla="val 1881"/>
            </a:avLst>
          </a:prstGeom>
          <a:solidFill>
            <a:srgbClr val="FFFFFF"/>
          </a:solidFill>
          <a:ln w="15875">
            <a:solidFill>
              <a:srgbClr val="E2E5EA"/>
            </a:solidFill>
            <a:prstDash val="solid"/>
          </a:ln>
        </p:spPr>
      </p:sp>
      <p:pic>
        <p:nvPicPr>
          <p:cNvPr id="6" name="Image 0" descr="/tmp/claude-0/-home-claude/52e76877-e6ca-54a8-bffe-89fc97b1191d/scratchpad/pptx_build/prompts_tabel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874520"/>
            <a:ext cx="6309360" cy="2807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40680" y="473659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Print: aba Prompts, visão “Tabela”, com o formulário de novo prompt aberto.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384048" cy="384048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828800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“prompt” aqui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87552" y="2112264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pergunta real que a automação envia, todo dia, para cada IA — ex.: “Qual a melhor empresa de recrutamento?”.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2743200"/>
            <a:ext cx="384048" cy="384048"/>
          </a:xfrm>
          <a:prstGeom prst="ellipse">
            <a:avLst/>
          </a:prstGeom>
          <a:solidFill>
            <a:srgbClr val="1E9E86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87552" y="2697480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prompt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87552" y="2980944"/>
            <a:ext cx="42245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 a pergunta e classifica por Categoria, Persona, País e Cidade — esses campos são o que alimenta o detalhamento por Persona/Localização do Dashboard.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3840480"/>
            <a:ext cx="384048" cy="384048"/>
          </a:xfrm>
          <a:prstGeom prst="ellipse">
            <a:avLst/>
          </a:prstGeom>
          <a:solidFill>
            <a:srgbClr val="D6455F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87552" y="3794760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Arquivar / Reativar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87552" y="4078224"/>
            <a:ext cx="42245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prompt arquivado para de ser enviado nos próximos ciclos, mas o histórico de respostas anteriores é mantido — nada é apagado.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4937760"/>
            <a:ext cx="384048" cy="384048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87552" y="4892040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Bolinha de status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87552" y="5175504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= prompt ativo (roda no próximo ciclo). Cinza = arquivado.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Foursales Company · Dashboard de Visibilidade em IA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515600" y="6528816"/>
            <a:ext cx="1216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C997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2 · PROMPTS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em mapa de calor: comparação entre modelos de 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385816" y="1819656"/>
            <a:ext cx="6419088" cy="2916936"/>
          </a:xfrm>
          <a:prstGeom prst="roundRect">
            <a:avLst>
              <a:gd name="adj" fmla="val 1881"/>
            </a:avLst>
          </a:prstGeom>
          <a:solidFill>
            <a:srgbClr val="FFFFFF"/>
          </a:solidFill>
          <a:ln w="15875">
            <a:solidFill>
              <a:srgbClr val="E2E5EA"/>
            </a:solidFill>
            <a:prstDash val="solid"/>
          </a:ln>
        </p:spPr>
      </p:sp>
      <p:pic>
        <p:nvPicPr>
          <p:cNvPr id="6" name="Image 0" descr="/tmp/claude-0/-home-claude/52e76877-e6ca-54a8-bffe-89fc97b1191d/scratchpad/pptx_build/prompts_heat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874520"/>
            <a:ext cx="6309360" cy="28072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40680" y="473659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Print: mapa de calor da Foursales — verde forte = alta visibilidade no prompt.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384048" cy="384048"/>
          </a:xfrm>
          <a:prstGeom prst="ellipse">
            <a:avLst/>
          </a:prstGeom>
          <a:solidFill>
            <a:srgbClr val="1E9E86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828800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por prompt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87552" y="2112264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é uma pergunta; cada coluna é uma IA (ChatGPT, Claude, Gemini, Perplexity).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2743200"/>
            <a:ext cx="384048" cy="384048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743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87552" y="2697480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= visibilidade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87552" y="2980944"/>
            <a:ext cx="42245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= a marca aparece bastante nas respostas daquele modelo para aquele prompt; vermelho/rosa = pouca ou nenhuma menção. Tons intermediários = parcial.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3840480"/>
            <a:ext cx="384048" cy="384048"/>
          </a:xfrm>
          <a:prstGeom prst="ellipse">
            <a:avLst/>
          </a:prstGeom>
          <a:solidFill>
            <a:srgbClr val="D6455F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87552" y="3794760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 serve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87552" y="4078224"/>
            <a:ext cx="42245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rapidamente onde vale focar: um prompt “todo vermelho” é uma pergunta importante em que a marca não está aparecendo em nenhuma IA.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4937760"/>
            <a:ext cx="384048" cy="384048"/>
          </a:xfrm>
          <a:prstGeom prst="ellipse">
            <a:avLst/>
          </a:prstGeom>
          <a:solidFill>
            <a:srgbClr val="1E9E86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87552" y="4892040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filtro de marca e período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87552" y="5175504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seletores de marca e de janela de tempo do topo continuam valendo aqui.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Foursales Company · Dashboard de Visibilidade em IA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515600" y="6528816"/>
            <a:ext cx="1216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C997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3 · CONCORRENTES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geral: evolução da visibilidade ao longo do tempo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202936" y="1819656"/>
            <a:ext cx="6601968" cy="2999232"/>
          </a:xfrm>
          <a:prstGeom prst="roundRect">
            <a:avLst>
              <a:gd name="adj" fmla="val 1829"/>
            </a:avLst>
          </a:prstGeom>
          <a:solidFill>
            <a:srgbClr val="FFFFFF"/>
          </a:solidFill>
          <a:ln w="15875">
            <a:solidFill>
              <a:srgbClr val="E2E5EA"/>
            </a:solidFill>
            <a:prstDash val="solid"/>
          </a:ln>
        </p:spPr>
      </p:sp>
      <p:pic>
        <p:nvPicPr>
          <p:cNvPr id="6" name="Image 0" descr="/tmp/claude-0/-home-claude/52e76877-e6ca-54a8-bffe-89fc97b1191d/scratchpad/pptx_build/concorrentes_cha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57800" y="1874520"/>
            <a:ext cx="6492240" cy="2889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57800" y="482803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Print: Foursales clicada na legenda — linha em destaque, demais em segundo plano.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384048" cy="384048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828800"/>
            <a:ext cx="4087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por marca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87552" y="2112264"/>
            <a:ext cx="4087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gráfico traz a Foursales e todos os concorrentes monitorados (60+) na mesma visão de visibilidade ao longo do tempo.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384048" cy="384048"/>
          </a:xfrm>
          <a:prstGeom prst="ellipse">
            <a:avLst/>
          </a:prstGeom>
          <a:solidFill>
            <a:srgbClr val="1E9E86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87552" y="2926080"/>
            <a:ext cx="4087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na legenda para focar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87552" y="3209544"/>
            <a:ext cx="40873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no nome de uma marca (ex.: Foursales) deixa a linha dela em destaque e apaga visualmente as demais — útil para comparar 1 a 1 sem poluição visual.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4069080"/>
            <a:ext cx="384048" cy="384048"/>
          </a:xfrm>
          <a:prstGeom prst="ellipse">
            <a:avLst/>
          </a:prstGeom>
          <a:solidFill>
            <a:srgbClr val="D6455F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87552" y="4023360"/>
            <a:ext cx="4087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do topo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87552" y="4306824"/>
            <a:ext cx="4087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lógica das outras abas: prompt específico ou “todos”, e janela de 7/30/90 dias.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4937760"/>
            <a:ext cx="384048" cy="384048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87552" y="4892040"/>
            <a:ext cx="4087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recomendada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87552" y="5175504"/>
            <a:ext cx="4087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Quedas ou picos bruscos costumam coincidir com mudanças no conteúdo publicado ou em como a IA está buscando fontes.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Foursales Company · Dashboard de Visibilidade em IA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515600" y="6528816"/>
            <a:ext cx="1216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C997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3 · CONCORRENTES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de fontes → marca: de onde vem cada menção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0056" y="1819656"/>
            <a:ext cx="6784848" cy="3081528"/>
          </a:xfrm>
          <a:prstGeom prst="roundRect">
            <a:avLst>
              <a:gd name="adj" fmla="val 1780"/>
            </a:avLst>
          </a:prstGeom>
          <a:solidFill>
            <a:srgbClr val="FFFFFF"/>
          </a:solidFill>
          <a:ln w="15875">
            <a:solidFill>
              <a:srgbClr val="E2E5EA"/>
            </a:solidFill>
            <a:prstDash val="solid"/>
          </a:ln>
        </p:spPr>
      </p:sp>
      <p:pic>
        <p:nvPicPr>
          <p:cNvPr id="6" name="Image 0" descr="/tmp/claude-0/-home-claude/52e76877-e6ca-54a8-bffe-89fc97b1191d/scratchpad/pptx_build/concorrentes_sanke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874520"/>
            <a:ext cx="6675120" cy="2971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74920" y="4901184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Print: faixas douradas mostram os domínios que alimentaram menções à Foursales.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384048" cy="384048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82880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ler o diagrama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87552" y="2112264"/>
            <a:ext cx="3904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esquerda, os domínios que a IA usou como fonte de pesquisa; à direita, as marcas mencionadas na resposta final.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384048" cy="384048"/>
          </a:xfrm>
          <a:prstGeom prst="ellipse">
            <a:avLst/>
          </a:prstGeom>
          <a:solidFill>
            <a:srgbClr val="1E9E86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87552" y="292608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Largura da faixa = frequência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87552" y="3209544"/>
            <a:ext cx="3904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larga a faixa que liga um domínio a uma marca, mais vezes esse domínio apareceu como fonte de uma resposta que citou aquela marca.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4069080"/>
            <a:ext cx="384048" cy="384048"/>
          </a:xfrm>
          <a:prstGeom prst="ellipse">
            <a:avLst/>
          </a:prstGeom>
          <a:solidFill>
            <a:srgbClr val="D6455F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87552" y="402336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automático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87552" y="4306824"/>
            <a:ext cx="390448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Foursales está selecionada no filtro, as faixas relacionadas a ela ficam em dourado — as demais aparecem esmaecidas.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5166360"/>
            <a:ext cx="384048" cy="384048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87552" y="5120640"/>
            <a:ext cx="3904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estratégico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87552" y="5404104"/>
            <a:ext cx="3904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Revela quais sites realmente pesam na narrativa da IA sobre o setor — direciona onde investir em relação/conteúdo.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Foursales Company · Dashboard de Visibilidade em IA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515600" y="6528816"/>
            <a:ext cx="1216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C997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3 · CONCORRENTES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Gerenciar: quem entra na comparação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294376" y="1819656"/>
            <a:ext cx="6492240" cy="2953512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15875">
            <a:solidFill>
              <a:srgbClr val="E2E5EA"/>
            </a:solidFill>
            <a:prstDash val="solid"/>
          </a:ln>
        </p:spPr>
      </p:sp>
      <p:pic>
        <p:nvPicPr>
          <p:cNvPr id="6" name="Image 0" descr="/tmp/claude-0/-home-claude/52e76877-e6ca-54a8-bffe-89fc97b1191d/scratchpad/pptx_build/concorrentes_gerenci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874520"/>
            <a:ext cx="6382512" cy="28437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49240" y="4754880"/>
            <a:ext cx="6382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Print: sub-aba Gerenciar, com as marcas da holding e a lista de concorrentes.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384048" cy="384048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828800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(marcas próprias)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87552" y="2112264"/>
            <a:ext cx="4178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EasyHire, Foursales, SalesJobs e WorkPass — as 4 marcas do grupo que o dashboard acompanha como “casa”.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384048" cy="384048"/>
          </a:xfrm>
          <a:prstGeom prst="ellipse">
            <a:avLst/>
          </a:prstGeom>
          <a:solidFill>
            <a:srgbClr val="1E9E86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87552" y="2926080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de variações/alias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87552" y="3209544"/>
            <a:ext cx="4178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IA às vezes escreve o nome de um jeito diferente (ex.: “TFC” ou “The Foursales Company”) — cadastrar aqui garante que essas menções sejam contadas para a marca certa.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4069080"/>
            <a:ext cx="384048" cy="384048"/>
          </a:xfrm>
          <a:prstGeom prst="ellipse">
            <a:avLst/>
          </a:prstGeom>
          <a:solidFill>
            <a:srgbClr val="D6455F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87552" y="4023360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concorrente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87552" y="4306824"/>
            <a:ext cx="4178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no topo da tela para incluir manualmente um concorrente que ainda não esteja na lista.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4937760"/>
            <a:ext cx="384048" cy="384048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937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87552" y="4892040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Sugestão automática + Arquivar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87552" y="5175504"/>
            <a:ext cx="4178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automação diária também pode sugerir novos concorrentes encontrados nas respostas. “Arquivar” some com a marca das telas sem apagar o histórico já coletado.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Foursales Company · Dashboard de Visibilidade em IA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515600" y="6528816"/>
            <a:ext cx="1216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C997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4 · FONTES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Quais sites a IA usa como referência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02336" y="1819656"/>
            <a:ext cx="7470648" cy="3401568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5875">
            <a:solidFill>
              <a:srgbClr val="E2E5EA"/>
            </a:solidFill>
            <a:prstDash val="solid"/>
          </a:ln>
        </p:spPr>
      </p:sp>
      <p:pic>
        <p:nvPicPr>
          <p:cNvPr id="6" name="Image 0" descr="/tmp/claude-0/-home-claude/52e76877-e6ca-54a8-bffe-89fc97b1191d/scratchpad/pptx_build/fonte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74520"/>
            <a:ext cx="736092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5193792"/>
            <a:ext cx="7360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Print: aba Fontes, últimos 30 dias, ordenado por % de citação.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001000" y="1874520"/>
            <a:ext cx="3730752" cy="484632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75320" y="2103120"/>
            <a:ext cx="384048" cy="384048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10" name="Text 7"/>
          <p:cNvSpPr/>
          <p:nvPr/>
        </p:nvSpPr>
        <p:spPr>
          <a:xfrm>
            <a:off x="8275320" y="2103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805672" y="2057400"/>
            <a:ext cx="271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Chips do topo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805672" y="2340864"/>
            <a:ext cx="27157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domínios mais citados no período, com o total de vezes que apareceram como fonte.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275320" y="3200400"/>
            <a:ext cx="384048" cy="384048"/>
          </a:xfrm>
          <a:prstGeom prst="ellipse">
            <a:avLst/>
          </a:prstGeom>
          <a:solidFill>
            <a:srgbClr val="1E9E86"/>
          </a:solidFill>
          <a:ln/>
        </p:spPr>
      </p:sp>
      <p:sp>
        <p:nvSpPr>
          <p:cNvPr id="14" name="Text 11"/>
          <p:cNvSpPr/>
          <p:nvPr/>
        </p:nvSpPr>
        <p:spPr>
          <a:xfrm>
            <a:off x="827532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805672" y="3154680"/>
            <a:ext cx="271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Citada 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805672" y="3438144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quantas execuções aquela URL foi usada como referência pela IA, no período filtrado.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275320" y="4023360"/>
            <a:ext cx="384048" cy="384048"/>
          </a:xfrm>
          <a:prstGeom prst="ellipse">
            <a:avLst/>
          </a:prstGeom>
          <a:solidFill>
            <a:srgbClr val="D6455F"/>
          </a:solidFill>
          <a:ln/>
        </p:spPr>
      </p:sp>
      <p:sp>
        <p:nvSpPr>
          <p:cNvPr id="18" name="Text 15"/>
          <p:cNvSpPr/>
          <p:nvPr/>
        </p:nvSpPr>
        <p:spPr>
          <a:xfrm>
            <a:off x="8275320" y="4023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805672" y="3977640"/>
            <a:ext cx="271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média / Visto por último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805672" y="4261104"/>
            <a:ext cx="27157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média em que o link aparece dentro da resposta e a data mais recente em que foi citado.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275320" y="5120640"/>
            <a:ext cx="384048" cy="384048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22" name="Text 19"/>
          <p:cNvSpPr/>
          <p:nvPr/>
        </p:nvSpPr>
        <p:spPr>
          <a:xfrm>
            <a:off x="8275320" y="5120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805672" y="5074920"/>
            <a:ext cx="271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 Marcas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805672" y="5358384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a qual marca (F, M, R...) aquela fonte está associada nas respostas.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275320" y="5943600"/>
            <a:ext cx="384048" cy="384048"/>
          </a:xfrm>
          <a:prstGeom prst="ellipse">
            <a:avLst/>
          </a:prstGeom>
          <a:solidFill>
            <a:srgbClr val="1E9E86"/>
          </a:solidFill>
          <a:ln/>
        </p:spPr>
      </p:sp>
      <p:sp>
        <p:nvSpPr>
          <p:cNvPr id="26" name="Text 23"/>
          <p:cNvSpPr/>
          <p:nvPr/>
        </p:nvSpPr>
        <p:spPr>
          <a:xfrm>
            <a:off x="8275320" y="5943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805672" y="5897880"/>
            <a:ext cx="271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Tipo / busca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805672" y="6181344"/>
            <a:ext cx="27157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possível trocar entre URLs e Domínios de origem, e filtrar por texto, domínio ou tipo.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Foursales Company · Dashboard de Visibilidade em IA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0515600" y="6528816"/>
            <a:ext cx="1216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C997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5 · RESPOSTAS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Lista de execuções: prompt × IA × dia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385816" y="1819656"/>
            <a:ext cx="6419088" cy="2907792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15875">
            <a:solidFill>
              <a:srgbClr val="E2E5EA"/>
            </a:solidFill>
            <a:prstDash val="solid"/>
          </a:ln>
        </p:spPr>
      </p:sp>
      <p:pic>
        <p:nvPicPr>
          <p:cNvPr id="6" name="Image 0" descr="/tmp/claude-0/-home-claude/52e76877-e6ca-54a8-bffe-89fc97b1191d/scratchpad/pptx_build/respostas_list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874520"/>
            <a:ext cx="6309360" cy="2798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40680" y="47274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Print: cada linha é uma execução real do robô contra uma IA, em um dia.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384048" cy="384048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828800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= uma execução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87552" y="2112264"/>
            <a:ext cx="42245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enviado, qual IA respondeu (ChatGPT, Claude, Gemini, Perplexity), modelo exato e data.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384048" cy="384048"/>
          </a:xfrm>
          <a:prstGeom prst="ellipse">
            <a:avLst/>
          </a:prstGeom>
          <a:solidFill>
            <a:srgbClr val="1E9E86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87552" y="2926080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 “sucesso”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87552" y="3209544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que a automação conseguiu enviar o prompt e coletar a resposta sem erro técnico.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3794760"/>
            <a:ext cx="384048" cy="384048"/>
          </a:xfrm>
          <a:prstGeom prst="ellipse">
            <a:avLst/>
          </a:prstGeom>
          <a:solidFill>
            <a:srgbClr val="D6455F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794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87552" y="3749040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“Buscas web”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87552" y="4032504"/>
            <a:ext cx="42245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IA pesquisou na internet antes de responder, o número de buscas realizadas aparece aqui — é o que alimenta a aba Fontes.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4892040"/>
            <a:ext cx="384048" cy="384048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87552" y="4846320"/>
            <a:ext cx="4224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expande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87552" y="5129784"/>
            <a:ext cx="4224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Clicar em qualquer linha abre o texto completo da resposta da IA (ver próximo slide).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Foursales Company · Dashboard de Visibilidade em IA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515600" y="6528816"/>
            <a:ext cx="1216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C997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 5 · RESPOSTAS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Resposta expandida: leitura na íntegra com marcas destacadas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294376" y="1819656"/>
            <a:ext cx="6492240" cy="2953512"/>
          </a:xfrm>
          <a:prstGeom prst="roundRect">
            <a:avLst>
              <a:gd name="adj" fmla="val 1858"/>
            </a:avLst>
          </a:prstGeom>
          <a:solidFill>
            <a:srgbClr val="FFFFFF"/>
          </a:solidFill>
          <a:ln w="15875">
            <a:solidFill>
              <a:srgbClr val="E2E5EA"/>
            </a:solidFill>
            <a:prstDash val="solid"/>
          </a:ln>
        </p:spPr>
      </p:sp>
      <p:pic>
        <p:nvPicPr>
          <p:cNvPr id="6" name="Image 0" descr="/tmp/claude-0/-home-claude/52e76877-e6ca-54a8-bffe-89fc97b1191d/scratchpad/pptx_build/respostas_expandid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874520"/>
            <a:ext cx="6382512" cy="28437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49240" y="4754880"/>
            <a:ext cx="6382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Print: mesma resposta, com Boyden, Odgers Berndtson e Korn Ferry destacados em cores.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384048" cy="384048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87552" y="1828800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100% original da IA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87552" y="2112264"/>
            <a:ext cx="4178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é resumido ou reescrito — é a resposta exatamente como a IA gerou, útil para auditar o que está sendo dito sobre o setor.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2971800"/>
            <a:ext cx="384048" cy="384048"/>
          </a:xfrm>
          <a:prstGeom prst="ellipse">
            <a:avLst/>
          </a:prstGeom>
          <a:solidFill>
            <a:srgbClr val="1E9E86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87552" y="2926080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marca ganha uma cor fixa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87552" y="3209544"/>
            <a:ext cx="4178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vez que um nome de marca monitorada aparece no texto, ele é destacado automaticamente com a cor daquela marca — facilita achar a menção sem ler tudo.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7200" y="4069080"/>
            <a:ext cx="384048" cy="384048"/>
          </a:xfrm>
          <a:prstGeom prst="ellipse">
            <a:avLst/>
          </a:prstGeom>
          <a:solidFill>
            <a:srgbClr val="D6455F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87552" y="4023360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destaque = não citada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987552" y="4306824"/>
            <a:ext cx="417880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que aparecem no texto puro (sem cor) não estão na lista de monitoradas — pode ser candidata a novo concorrente.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5166360"/>
            <a:ext cx="384048" cy="384048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21" name="Text 18"/>
          <p:cNvSpPr/>
          <p:nvPr/>
        </p:nvSpPr>
        <p:spPr>
          <a:xfrm>
            <a:off x="45720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87552" y="5120640"/>
            <a:ext cx="4178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recomendado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87552" y="5404104"/>
            <a:ext cx="4178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tela para “conferir com os próprios olhos” o motivo de um resultado no Dashboard antes de tomar uma decisão.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Foursales Company · Dashboard de Visibilidade em IA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515600" y="6528816"/>
            <a:ext cx="1216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C997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entrar no dashboard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B2A4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86000"/>
            <a:ext cx="457200" cy="457200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1732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exclusivo com Google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7889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7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usuário e senha próprios — o acesso é feito clicando em “Entrar com Google” e escolhendo a conta corporativa.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611880"/>
            <a:ext cx="457200" cy="457200"/>
          </a:xfrm>
          <a:prstGeom prst="ellipse">
            <a:avLst/>
          </a:prstGeom>
          <a:solidFill>
            <a:srgbClr val="1E9E8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3611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Restrito por domínio de e-mail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7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e-mails @foursales-company.com, @foursales.com.br, @easyhire.com.br ou @salesjobs.com.br conseguem entrar. Qualquer outra conta Google é bloqueada automaticamente.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5120640"/>
            <a:ext cx="457200" cy="457200"/>
          </a:xfrm>
          <a:prstGeom prst="ellipse">
            <a:avLst/>
          </a:prstGeom>
          <a:solidFill>
            <a:srgbClr val="D6455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5120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visível em qualquer tela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56235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E7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e-mail logado e o botão de sair ficam sempre fixos no canto inferior da barra lateral, em qualquer aba do sistema.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1965960"/>
            <a:ext cx="5468112" cy="4206240"/>
          </a:xfrm>
          <a:prstGeom prst="roundRect">
            <a:avLst>
              <a:gd name="adj" fmla="val 2174"/>
            </a:avLst>
          </a:prstGeom>
          <a:solidFill>
            <a:srgbClr val="1F314D"/>
          </a:solidFill>
          <a:ln w="12700">
            <a:solidFill>
              <a:srgbClr val="2C3E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240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essa camada de segurança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26974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7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dashboard mostra dados de concorrentes e estratégia de conteúdo, o acesso é fechado ao time interno do grupo Foursales — sem necessidade de gerenciar senhas separadas, já que a verificação usa a própria conta Google corporativa da pessoa.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37960" y="4206240"/>
            <a:ext cx="4937760" cy="0"/>
          </a:xfrm>
          <a:prstGeom prst="line">
            <a:avLst/>
          </a:prstGeom>
          <a:noFill/>
          <a:ln w="12700">
            <a:solidFill>
              <a:srgbClr val="2C3E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389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de login (identidade visual em ajuste final)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47548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AA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logomarca da The Foursales Company está sendo posicionada centralizada acima do nome na tela de login — ajuste visual em curso, print será atualizado assim que a versão em produção refletir a versão final.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Foursales Company · Dashboard de Visibilidade em IA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515600" y="6528816"/>
            <a:ext cx="1216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2468880" cy="292608"/>
          </a:xfrm>
          <a:prstGeom prst="roundRect">
            <a:avLst>
              <a:gd name="adj" fmla="val 50000"/>
            </a:avLst>
          </a:prstGeom>
          <a:solidFill>
            <a:srgbClr val="C9973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fluxo de leitura sugerido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044598" cy="3200400"/>
          </a:xfrm>
          <a:prstGeom prst="roundRect">
            <a:avLst>
              <a:gd name="adj" fmla="val 402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23467" y="2286000"/>
            <a:ext cx="512064" cy="512064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7" name="Text 5"/>
          <p:cNvSpPr/>
          <p:nvPr/>
        </p:nvSpPr>
        <p:spPr>
          <a:xfrm>
            <a:off x="1223467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926080"/>
            <a:ext cx="1770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16788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pelo panorama: visibilidade e ranking frente aos concorrentes.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57830" y="2011680"/>
            <a:ext cx="2044598" cy="3200400"/>
          </a:xfrm>
          <a:prstGeom prst="roundRect">
            <a:avLst>
              <a:gd name="adj" fmla="val 402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4098" y="2286000"/>
            <a:ext cx="512064" cy="512064"/>
          </a:xfrm>
          <a:prstGeom prst="ellipse">
            <a:avLst/>
          </a:prstGeom>
          <a:solidFill>
            <a:srgbClr val="1E9E86"/>
          </a:solidFill>
          <a:ln/>
        </p:spPr>
      </p:sp>
      <p:sp>
        <p:nvSpPr>
          <p:cNvPr id="12" name="Text 10"/>
          <p:cNvSpPr/>
          <p:nvPr/>
        </p:nvSpPr>
        <p:spPr>
          <a:xfrm>
            <a:off x="3524098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894990" y="2926080"/>
            <a:ext cx="1770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40710" y="3429000"/>
            <a:ext cx="16788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Entenda a tendência no tempo e quem entra na comparação.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58461" y="2011680"/>
            <a:ext cx="2044598" cy="3200400"/>
          </a:xfrm>
          <a:prstGeom prst="roundRect">
            <a:avLst>
              <a:gd name="adj" fmla="val 402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24728" y="2286000"/>
            <a:ext cx="512064" cy="512064"/>
          </a:xfrm>
          <a:prstGeom prst="ellipse">
            <a:avLst/>
          </a:prstGeom>
          <a:solidFill>
            <a:srgbClr val="D6455F"/>
          </a:solidFill>
          <a:ln/>
        </p:spPr>
      </p:sp>
      <p:sp>
        <p:nvSpPr>
          <p:cNvPr id="17" name="Text 15"/>
          <p:cNvSpPr/>
          <p:nvPr/>
        </p:nvSpPr>
        <p:spPr>
          <a:xfrm>
            <a:off x="5824728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195621" y="2926080"/>
            <a:ext cx="1770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41341" y="3429000"/>
            <a:ext cx="16788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Veja exatamente quais perguntas geraram esses números.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59091" y="2011680"/>
            <a:ext cx="2044598" cy="3200400"/>
          </a:xfrm>
          <a:prstGeom prst="roundRect">
            <a:avLst>
              <a:gd name="adj" fmla="val 402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25358" y="2286000"/>
            <a:ext cx="512064" cy="512064"/>
          </a:xfrm>
          <a:prstGeom prst="ellipse">
            <a:avLst/>
          </a:prstGeom>
          <a:solidFill>
            <a:srgbClr val="C9973E"/>
          </a:solidFill>
          <a:ln/>
        </p:spPr>
      </p:sp>
      <p:sp>
        <p:nvSpPr>
          <p:cNvPr id="22" name="Text 20"/>
          <p:cNvSpPr/>
          <p:nvPr/>
        </p:nvSpPr>
        <p:spPr>
          <a:xfrm>
            <a:off x="8125358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96251" y="2926080"/>
            <a:ext cx="1770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41971" y="3429000"/>
            <a:ext cx="16788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Identifique quais sites estão pesando na resposta da IA.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659722" y="2011680"/>
            <a:ext cx="2044598" cy="3200400"/>
          </a:xfrm>
          <a:prstGeom prst="roundRect">
            <a:avLst>
              <a:gd name="adj" fmla="val 4025"/>
            </a:avLst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425989" y="2286000"/>
            <a:ext cx="512064" cy="512064"/>
          </a:xfrm>
          <a:prstGeom prst="ellipse">
            <a:avLst/>
          </a:prstGeom>
          <a:solidFill>
            <a:srgbClr val="1E9E86"/>
          </a:solidFill>
          <a:ln/>
        </p:spPr>
      </p:sp>
      <p:sp>
        <p:nvSpPr>
          <p:cNvPr id="27" name="Text 25"/>
          <p:cNvSpPr/>
          <p:nvPr/>
        </p:nvSpPr>
        <p:spPr>
          <a:xfrm>
            <a:off x="10425989" y="22860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96882" y="2926080"/>
            <a:ext cx="17702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842602" y="3429000"/>
            <a:ext cx="16788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o texto bruto para confirmar o contexto da menção.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48640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111C2E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548640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 sugerido: aplicar a migração de segurança pendente no banco de dados assim que o login em produção estiver confirmado ponta a ponta pelo time.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5288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Foursales Company · Dashboard de Visibilidade em IA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515600" y="6528816"/>
            <a:ext cx="1216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C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943600" cy="5943600"/>
          </a:xfrm>
          <a:prstGeom prst="ellipse">
            <a:avLst/>
          </a:prstGeom>
          <a:solidFill>
            <a:srgbClr val="1B2A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4688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Dúvidas?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4290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AB4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à disposição para detalhar qualquer aba, métrica ou funcionalidade mostrada nesta apresentação.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4343400"/>
            <a:ext cx="2011680" cy="0"/>
          </a:xfrm>
          <a:prstGeom prst="line">
            <a:avLst/>
          </a:prstGeom>
          <a:noFill/>
          <a:ln w="25400">
            <a:solidFill>
              <a:srgbClr val="C997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526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97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Foursales Company  ·  Dashboard de Visibilidade em IA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2026-09-14T12:39:24Z</dcterms:created>
  <dcterms:modified xsi:type="dcterms:W3CDTF">2026-09-14T12:39:24Z</dcterms:modified>
</cp:coreProperties>
</file>